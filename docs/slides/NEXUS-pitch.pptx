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customer's line: "I was charged twice." A support agent has to compare orders, captures, holds and refunds against policy, and a wrong answer costs money twice. Introduce Team Takla: Vaibhav Jangid, Garv Bansal, Abishek Guru, Pachipulusu Poojit.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user is the e-commerce support agent, secondary is the support lead. The input is the complaint plus authorized payment records. The output is a cited triage, a reply draft that code writes and the model never does, and a refund recommendation or a human-review case. The screen on the right is a real case screen with synthetic data, run LIVE AMD.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real screens from the held-out live run: the case result, where a hold is not a charge so the stamp says no refund; the review queue, where policy-flagged cases wait for a person; and the insights view of the 12 held-out cases by final disposition.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Code, not the model, decides eligibility. A snapshot of hashed evidence goes through the policy rules. If a mandatory flag is found, there are 0 AMD calls (SKIPPED_POLICY, 4 of 12 held-out cases) and a person decides. Otherwise Gemma-4-31B-IT on AMD GPUs reads the complaint, validation checks the cited IDs and the amount, and code renders the reply. Real request: held-out case s02, 24,992 ms, 2,797 tokens in and 236 out. Honest limit: the endpoint rejects max_tokens, so output is bounded by a 60 s timeout, schema validation and a budget 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12 synthetic held-out cases, NEXUS got disposition 12/12 against 10/12 for rules only, and the reply rubric 21/21 against 19/21. Critical failures were 0/12 for both, mandatory-review recall 4/4 for both, and there were 0 model calls on the 4 policy-skipped cases. Rules-only missed an injection (a refund of $500 was requested; NEXUS kept the policy amount, GBP 64.50) and an off-topic login complaint. Descriptive only, not a general accuracy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the limits: synthetic data and a fictional policy, only 12 held-out cases, no payment or email is ever executed, a shared Token Factory with a mean of 29.4 s per call, and the operator ID is an audit label, not a login. Next: a real policy import, more cases, a timing study with agents, and Evolus and partner integrations, which are not claimed here. Point to the live demo and the repo, and thank Team Takla.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08000" y="228600"/>
            <a:ext cx="406400" cy="40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228600"/>
            <a:ext cx="146050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spc="-136">
                <a:solidFill>
                  <a:srgbClr val="0A0A0A"/>
                </a:solidFill>
                <a:latin typeface="Archivo Black"/>
              </a:rPr>
              <a:t>NEXUS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0" y="317500"/>
            <a:ext cx="1669415" cy="355600"/>
          </a:xfrm>
          <a:prstGeom prst="roundRect">
            <a:avLst>
              <a:gd name="adj" fmla="val 14285"/>
            </a:avLst>
          </a:prstGeom>
          <a:solidFill>
            <a:srgbClr val="FFF27A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spc="210">
                <a:solidFill>
                  <a:srgbClr val="0A0A0A"/>
                </a:solidFill>
                <a:latin typeface="JetBrains Mono"/>
              </a:rP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6300" y="266700"/>
            <a:ext cx="647700" cy="3556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111250"/>
            <a:ext cx="86995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2400"/>
              </a:lnSpc>
              <a:spcBef>
                <a:spcPts val="0"/>
              </a:spcBef>
              <a:spcAft>
                <a:spcPts val="0"/>
              </a:spcAft>
            </a:pPr>
            <a:r>
              <a:rPr sz="12900" b="0" spc="-300">
                <a:solidFill>
                  <a:srgbClr val="0A0A0A"/>
                </a:solidFill>
                <a:latin typeface="Archivo Black"/>
              </a:rPr>
              <a:t>I was charged</a:t>
            </a:r>
          </a:p>
          <a:p>
            <a:pPr>
              <a:lnSpc>
                <a:spcPts val="12400"/>
              </a:lnSpc>
              <a:spcBef>
                <a:spcPts val="0"/>
              </a:spcBef>
              <a:spcAft>
                <a:spcPts val="0"/>
              </a:spcAft>
            </a:pPr>
            <a:r>
              <a:rPr sz="12900" b="0" spc="-300">
                <a:solidFill>
                  <a:srgbClr val="0A0A0A"/>
                </a:solidFill>
                <a:highlight>
                  <a:srgbClr val="C8FF00"/>
                </a:highlight>
                <a:latin typeface="Archivo Black"/>
              </a:rPr>
              <a:t>twice.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714750"/>
            <a:ext cx="7112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350" b="0">
                <a:solidFill>
                  <a:srgbClr val="0A0A0A"/>
                </a:solidFill>
                <a:latin typeface="Patrick Hand"/>
              </a:rPr>
              <a:t>A support agent has to compare orders, captures, holds and refunds against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5080000"/>
            <a:ext cx="1079500" cy="533400"/>
          </a:xfrm>
          <a:prstGeom prst="roundRect">
            <a:avLst>
              <a:gd name="adj" fmla="val 16666"/>
            </a:avLst>
          </a:prstGeom>
          <a:solidFill>
            <a:srgbClr val="9FD8FF"/>
          </a:solidFill>
          <a:ln w="38100">
            <a:solidFill>
              <a:srgbClr val="0A0A0A"/>
            </a:solidFill>
          </a:ln>
          <a:effectLst>
            <a:outerShdw blurRad="0" dist="4490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50" b="0">
                <a:solidFill>
                  <a:srgbClr val="0A0A0A"/>
                </a:solidFill>
                <a:latin typeface="Patrick Hand"/>
              </a:rPr>
              <a:t>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46250" y="5080000"/>
            <a:ext cx="1301750" cy="533400"/>
          </a:xfrm>
          <a:prstGeom prst="roundRect">
            <a:avLst>
              <a:gd name="adj" fmla="val 16666"/>
            </a:avLst>
          </a:prstGeom>
          <a:solidFill>
            <a:srgbClr val="8EF0C4"/>
          </a:solidFill>
          <a:ln w="38100">
            <a:solidFill>
              <a:srgbClr val="0A0A0A"/>
            </a:solidFill>
          </a:ln>
          <a:effectLst>
            <a:outerShdw blurRad="0" dist="4490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50" b="0">
                <a:solidFill>
                  <a:srgbClr val="0A0A0A"/>
                </a:solidFill>
                <a:latin typeface="Patrick Hand"/>
              </a:rPr>
              <a:t>captures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6750" y="5080000"/>
            <a:ext cx="933450" cy="533400"/>
          </a:xfrm>
          <a:prstGeom prst="roundRect">
            <a:avLst>
              <a:gd name="adj" fmla="val 16666"/>
            </a:avLst>
          </a:prstGeom>
          <a:solidFill>
            <a:srgbClr val="FFC078"/>
          </a:solidFill>
          <a:ln w="38100">
            <a:solidFill>
              <a:srgbClr val="0A0A0A"/>
            </a:solidFill>
          </a:ln>
          <a:effectLst>
            <a:outerShdw blurRad="0" dist="4490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50" b="0">
                <a:solidFill>
                  <a:srgbClr val="0A0A0A"/>
                </a:solidFill>
                <a:latin typeface="Patrick Hand"/>
              </a:rPr>
              <a:t>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8950" y="5080000"/>
            <a:ext cx="1200150" cy="533400"/>
          </a:xfrm>
          <a:prstGeom prst="roundRect">
            <a:avLst>
              <a:gd name="adj" fmla="val 16666"/>
            </a:avLst>
          </a:prstGeom>
          <a:solidFill>
            <a:srgbClr val="CDB8FF"/>
          </a:solidFill>
          <a:ln w="38100">
            <a:solidFill>
              <a:srgbClr val="0A0A0A"/>
            </a:solidFill>
          </a:ln>
          <a:effectLst>
            <a:outerShdw blurRad="0" dist="4490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50" b="0">
                <a:solidFill>
                  <a:srgbClr val="0A0A0A"/>
                </a:solidFill>
                <a:latin typeface="Patrick Hand"/>
              </a:rPr>
              <a:t>refunds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3500" y="5080000"/>
            <a:ext cx="1193800" cy="533400"/>
          </a:xfrm>
          <a:prstGeom prst="roundRect">
            <a:avLst>
              <a:gd name="adj" fmla="val 16666"/>
            </a:avLst>
          </a:prstGeom>
          <a:solidFill>
            <a:srgbClr val="C8FF00"/>
          </a:solidFill>
          <a:ln w="38100">
            <a:solidFill>
              <a:srgbClr val="0A0A0A"/>
            </a:solidFill>
          </a:ln>
          <a:effectLst>
            <a:outerShdw blurRad="0" dist="4490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0A0A0A"/>
                </a:solidFill>
                <a:latin typeface="Archivo Black"/>
              </a:rPr>
              <a:t>policy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4200" y="5359400"/>
            <a:ext cx="590550" cy="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 rot="120000">
            <a:off x="9239250" y="812800"/>
            <a:ext cx="2444750" cy="1727200"/>
          </a:xfrm>
          <a:prstGeom prst="roundRect">
            <a:avLst>
              <a:gd name="adj" fmla="val 5882"/>
            </a:avLst>
          </a:prstGeom>
          <a:solidFill>
            <a:srgbClr val="FFF27A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27000" bIns="88900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3450" b="0" spc="-100">
                <a:solidFill>
                  <a:srgbClr val="0A0A0A"/>
                </a:solidFill>
                <a:latin typeface="Archivo Black"/>
              </a:rPr>
              <a:t>Team Takla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Patrick Hand"/>
              </a:rPr>
              <a:t>Vaibhav Jangid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Patrick Hand"/>
              </a:rPr>
              <a:t>Garv Bansal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Patrick Hand"/>
              </a:rPr>
              <a:t>Abishek Guru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Patrick Hand"/>
              </a:rPr>
              <a:t>Pachipulusu Poojit</a:t>
            </a:r>
          </a:p>
        </p:txBody>
      </p:sp>
      <p:sp>
        <p:nvSpPr>
          <p:cNvPr id="15" name="Rounded Rectangle 14"/>
          <p:cNvSpPr/>
          <p:nvPr/>
        </p:nvSpPr>
        <p:spPr>
          <a:xfrm rot="21420000">
            <a:off x="10001250" y="6604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9FD8FF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grpSp>
        <p:nvGrpSpPr>
          <p:cNvPr id="16" name="Group 15"/>
          <p:cNvGrpSpPr/>
          <p:nvPr/>
        </p:nvGrpSpPr>
        <p:grpSpPr>
          <a:xfrm rot="-300000">
            <a:off x="8540750" y="2794000"/>
            <a:ext cx="1365250" cy="1619250"/>
            <a:chOff x="8540750" y="2794000"/>
            <a:chExt cx="1365250" cy="1619250"/>
          </a:xfrm>
        </p:grpSpPr>
        <p:sp>
          <p:nvSpPr>
            <p:cNvPr id="17" name="Document 16"/>
            <p:cNvSpPr/>
            <p:nvPr/>
          </p:nvSpPr>
          <p:spPr>
            <a:xfrm>
              <a:off x="8540750" y="2794000"/>
              <a:ext cx="1365250" cy="1619250"/>
            </a:xfrm>
            <a:prstGeom prst="flowChartDocument">
              <a:avLst/>
            </a:prstGeom>
            <a:solidFill>
              <a:srgbClr val="9FD8FF"/>
            </a:solidFill>
            <a:ln w="47625">
              <a:solidFill>
                <a:srgbClr val="0A0A0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763000" y="3162300"/>
              <a:ext cx="857250" cy="0"/>
            </a:xfrm>
            <a:prstGeom prst="line">
              <a:avLst/>
            </a:prstGeom>
            <a:ln w="57150" cap="rnd">
              <a:solidFill>
                <a:srgbClr val="0A0A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763000" y="3441700"/>
              <a:ext cx="730250" cy="0"/>
            </a:xfrm>
            <a:prstGeom prst="line">
              <a:avLst/>
            </a:prstGeom>
            <a:ln w="57150" cap="rnd">
              <a:solidFill>
                <a:srgbClr val="0A0A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763000" y="3721100"/>
              <a:ext cx="857250" cy="0"/>
            </a:xfrm>
            <a:prstGeom prst="line">
              <a:avLst/>
            </a:prstGeom>
            <a:ln w="57150" cap="rnd">
              <a:solidFill>
                <a:srgbClr val="0A0A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9112250" y="3905250"/>
              <a:ext cx="476250" cy="254000"/>
            </a:xfrm>
            <a:prstGeom prst="roundRect">
              <a:avLst/>
            </a:prstGeom>
            <a:solidFill>
              <a:srgbClr val="C8FF00"/>
            </a:solidFill>
            <a:ln w="47625">
              <a:solidFill>
                <a:srgbClr val="0A0A0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 rot="360000">
            <a:off x="10001250" y="2933700"/>
            <a:ext cx="1365250" cy="1619250"/>
            <a:chOff x="10001250" y="2933700"/>
            <a:chExt cx="1365250" cy="1619250"/>
          </a:xfrm>
        </p:grpSpPr>
        <p:sp>
          <p:nvSpPr>
            <p:cNvPr id="23" name="Document 22"/>
            <p:cNvSpPr/>
            <p:nvPr/>
          </p:nvSpPr>
          <p:spPr>
            <a:xfrm>
              <a:off x="10001250" y="2933700"/>
              <a:ext cx="1365250" cy="1619250"/>
            </a:xfrm>
            <a:prstGeom prst="flowChartDocument">
              <a:avLst/>
            </a:prstGeom>
            <a:solidFill>
              <a:srgbClr val="FFC078"/>
            </a:solidFill>
            <a:ln w="47625">
              <a:solidFill>
                <a:srgbClr val="0A0A0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10223500" y="3302000"/>
              <a:ext cx="857250" cy="0"/>
            </a:xfrm>
            <a:prstGeom prst="line">
              <a:avLst/>
            </a:prstGeom>
            <a:ln w="57150" cap="rnd">
              <a:solidFill>
                <a:srgbClr val="0A0A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223500" y="3581400"/>
              <a:ext cx="730250" cy="0"/>
            </a:xfrm>
            <a:prstGeom prst="line">
              <a:avLst/>
            </a:prstGeom>
            <a:ln w="57150" cap="rnd">
              <a:solidFill>
                <a:srgbClr val="0A0A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10223500" y="3860800"/>
              <a:ext cx="857250" cy="0"/>
            </a:xfrm>
            <a:prstGeom prst="line">
              <a:avLst/>
            </a:prstGeom>
            <a:ln w="57150" cap="rnd">
              <a:solidFill>
                <a:srgbClr val="0A0A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10572750" y="4044950"/>
              <a:ext cx="476250" cy="254000"/>
            </a:xfrm>
            <a:prstGeom prst="roundRect">
              <a:avLst/>
            </a:prstGeom>
            <a:solidFill>
              <a:srgbClr val="C8FF00"/>
            </a:solidFill>
            <a:ln w="47625">
              <a:solidFill>
                <a:srgbClr val="0A0A0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Oval 27"/>
          <p:cNvSpPr/>
          <p:nvPr/>
        </p:nvSpPr>
        <p:spPr>
          <a:xfrm>
            <a:off x="9652000" y="2654300"/>
            <a:ext cx="571500" cy="571500"/>
          </a:xfrm>
          <a:prstGeom prst="ellipse">
            <a:avLst/>
          </a:prstGeom>
          <a:solidFill>
            <a:srgbClr val="FF9ECF"/>
          </a:solidFill>
          <a:ln w="35718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0" b="0">
                <a:solidFill>
                  <a:srgbClr val="0A0A0A"/>
                </a:solidFill>
                <a:latin typeface="Archivo Black"/>
              </a:rPr>
              <a:t>?</a:t>
            </a:r>
          </a:p>
        </p:txBody>
      </p:sp>
      <p:sp>
        <p:nvSpPr>
          <p:cNvPr id="29" name="Rounded Rectangle 28"/>
          <p:cNvSpPr/>
          <p:nvPr/>
        </p:nvSpPr>
        <p:spPr>
          <a:xfrm rot="21420000">
            <a:off x="8102600" y="4724400"/>
            <a:ext cx="3683000" cy="1625600"/>
          </a:xfrm>
          <a:prstGeom prst="roundRect">
            <a:avLst>
              <a:gd name="adj" fmla="val 6250"/>
            </a:avLst>
          </a:prstGeom>
          <a:solidFill>
            <a:srgbClr val="FF9EC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90500" rIns="190500" bIns="1270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spc="-100">
                <a:solidFill>
                  <a:srgbClr val="0A0A0A"/>
                </a:solidFill>
                <a:latin typeface="Archivo Black"/>
              </a:rPr>
              <a:t>A wrong answer costs money twice.</a:t>
            </a:r>
          </a:p>
        </p:txBody>
      </p:sp>
      <p:sp>
        <p:nvSpPr>
          <p:cNvPr id="30" name="Rounded Rectangle 29"/>
          <p:cNvSpPr/>
          <p:nvPr/>
        </p:nvSpPr>
        <p:spPr>
          <a:xfrm rot="19500000">
            <a:off x="7785100" y="48133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FFF27A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08000" y="228600"/>
            <a:ext cx="406400" cy="40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228600"/>
            <a:ext cx="146050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spc="-136">
                <a:solidFill>
                  <a:srgbClr val="0A0A0A"/>
                </a:solidFill>
                <a:latin typeface="Archivo Black"/>
              </a:rPr>
              <a:t>NEXUS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0" y="317500"/>
            <a:ext cx="2301240" cy="355600"/>
          </a:xfrm>
          <a:prstGeom prst="roundRect">
            <a:avLst>
              <a:gd name="adj" fmla="val 14285"/>
            </a:avLst>
          </a:prstGeom>
          <a:solidFill>
            <a:srgbClr val="FFF27A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spc="210">
                <a:solidFill>
                  <a:srgbClr val="0A0A0A"/>
                </a:solidFill>
                <a:latin typeface="JetBrains Mono"/>
              </a:rPr>
              <a:t>USER AND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6300" y="266700"/>
            <a:ext cx="647700" cy="3556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787400"/>
            <a:ext cx="622300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spc="-97">
                <a:solidFill>
                  <a:srgbClr val="0A0A0A"/>
                </a:solidFill>
                <a:latin typeface="Archivo Black"/>
              </a:rPr>
              <a:t>A cited triage and a safe reply, </a:t>
            </a:r>
            <a:r>
              <a:rPr sz="3900" b="0" spc="-97">
                <a:solidFill>
                  <a:srgbClr val="0A0A0A"/>
                </a:solidFill>
                <a:highlight>
                  <a:srgbClr val="C8FF00"/>
                </a:highlight>
                <a:latin typeface="Archivo Black"/>
              </a:rPr>
              <a:t>for the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2159000"/>
            <a:ext cx="2959100" cy="1016000"/>
          </a:xfrm>
          <a:prstGeom prst="roundRect">
            <a:avLst>
              <a:gd name="adj" fmla="val 10000"/>
            </a:avLst>
          </a:prstGeom>
          <a:solidFill>
            <a:srgbClr val="FFF27A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tIns="127000" rIns="127000" bIns="10160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spc="168">
                <a:solidFill>
                  <a:srgbClr val="0A0A0A"/>
                </a:solidFill>
                <a:latin typeface="JetBrains Mono"/>
              </a:rPr>
              <a:t>PRIMARY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chivo"/>
              </a:rPr>
              <a:t>E-commerce support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44900" y="2159000"/>
            <a:ext cx="2959100" cy="1016000"/>
          </a:xfrm>
          <a:prstGeom prst="roundRect">
            <a:avLst>
              <a:gd name="adj" fmla="val 10000"/>
            </a:avLst>
          </a:prstGeom>
          <a:solidFill>
            <a:srgbClr val="9FD8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tIns="127000" rIns="127000" bIns="10160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spc="168">
                <a:solidFill>
                  <a:srgbClr val="0A0A0A"/>
                </a:solidFill>
                <a:latin typeface="JetBrains Mono"/>
              </a:rPr>
              <a:t>SECONDARY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chivo"/>
              </a:rPr>
              <a:t>Support 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" y="4318000"/>
            <a:ext cx="1905000" cy="1206500"/>
          </a:xfrm>
          <a:prstGeom prst="roundRect">
            <a:avLst>
              <a:gd name="adj" fmla="val 8421"/>
            </a:avLst>
          </a:prstGeom>
          <a:solidFill>
            <a:srgbClr val="F8F6F1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127000" rIns="114300" bIns="1016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>
                <a:solidFill>
                  <a:srgbClr val="0A0A0A"/>
                </a:solidFill>
                <a:latin typeface="Patrick Hand"/>
              </a:rPr>
              <a:t>complaint + authorized payment records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1750" y="4921250"/>
            <a:ext cx="730250" cy="0"/>
          </a:xfrm>
          <a:prstGeom prst="line">
            <a:avLst/>
          </a:prstGeom>
          <a:ln w="57150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92500" y="3619500"/>
            <a:ext cx="3111500" cy="736600"/>
          </a:xfrm>
          <a:prstGeom prst="roundRect">
            <a:avLst>
              <a:gd name="adj" fmla="val 13793"/>
            </a:avLst>
          </a:prstGeom>
          <a:solidFill>
            <a:srgbClr val="9FD8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76200" rIns="88900" bIns="635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Cited triage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every cited record checked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2500" y="4470400"/>
            <a:ext cx="3111500" cy="736600"/>
          </a:xfrm>
          <a:prstGeom prst="roundRect">
            <a:avLst>
              <a:gd name="adj" fmla="val 13793"/>
            </a:avLst>
          </a:prstGeom>
          <a:solidFill>
            <a:srgbClr val="FFC078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76200" rIns="88900" bIns="635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Reply draft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written by code, never by the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2500" y="5321300"/>
            <a:ext cx="3111500" cy="736600"/>
          </a:xfrm>
          <a:prstGeom prst="roundRect">
            <a:avLst>
              <a:gd name="adj" fmla="val 13793"/>
            </a:avLst>
          </a:prstGeom>
          <a:solidFill>
            <a:srgbClr val="8EF0C4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76200" rIns="88900" bIns="635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Refund recommendation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or a human-review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35800" y="787400"/>
            <a:ext cx="4648200" cy="5430642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pic>
        <p:nvPicPr>
          <p:cNvPr id="15" name="Picture 14" descr="case-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863600"/>
            <a:ext cx="4495800" cy="527824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 rot="19500000">
            <a:off x="6718300" y="7366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8EF0C4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35800" y="6370442"/>
            <a:ext cx="4648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Real case screen, synthetic data: LIVE AMD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08000" y="228600"/>
            <a:ext cx="406400" cy="40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228600"/>
            <a:ext cx="146050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spc="-136">
                <a:solidFill>
                  <a:srgbClr val="0A0A0A"/>
                </a:solidFill>
                <a:latin typeface="Archivo Black"/>
              </a:rPr>
              <a:t>NEXUS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0" y="317500"/>
            <a:ext cx="1669415" cy="355600"/>
          </a:xfrm>
          <a:prstGeom prst="roundRect">
            <a:avLst>
              <a:gd name="adj" fmla="val 14285"/>
            </a:avLst>
          </a:prstGeom>
          <a:solidFill>
            <a:srgbClr val="FFF27A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spc="210">
                <a:solidFill>
                  <a:srgbClr val="0A0A0A"/>
                </a:solidFill>
                <a:latin typeface="JetBrains Mono"/>
              </a:rPr>
              <a:t>DEMO 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6300" y="266700"/>
            <a:ext cx="647700" cy="3556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787400"/>
            <a:ext cx="6985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800" b="0" spc="-120">
                <a:solidFill>
                  <a:srgbClr val="0A0A0A"/>
                </a:solidFill>
                <a:latin typeface="Archivo Black"/>
              </a:rPr>
              <a:t>Real screens from </a:t>
            </a:r>
            <a:r>
              <a:rPr sz="4800" b="0" spc="-120">
                <a:solidFill>
                  <a:srgbClr val="0A0A0A"/>
                </a:solidFill>
                <a:highlight>
                  <a:srgbClr val="C8FF00"/>
                </a:highlight>
                <a:latin typeface="Archivo Black"/>
              </a:rPr>
              <a:t>real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5100" y="927100"/>
            <a:ext cx="3906520" cy="355600"/>
          </a:xfrm>
          <a:prstGeom prst="roundRect">
            <a:avLst>
              <a:gd name="adj" fmla="val 17857"/>
            </a:avLst>
          </a:prstGeom>
          <a:solidFill>
            <a:srgbClr val="E2F3FF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run eval-heldout-live-202610161132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1473200"/>
            <a:ext cx="3302000" cy="430571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pic>
        <p:nvPicPr>
          <p:cNvPr id="9" name="Picture 8" descr="frame-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36700"/>
            <a:ext cx="3175000" cy="41787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 rot="19500000">
            <a:off x="190500" y="14224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9FD8FF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5918610"/>
            <a:ext cx="3302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Case result.</a:t>
            </a:r>
            <a:r>
              <a:rPr sz="2700" b="0">
                <a:solidFill>
                  <a:srgbClr val="0A0A0A"/>
                </a:solidFill>
                <a:latin typeface="Patrick Hand"/>
              </a:rPr>
              <a:t> A hold is not a charge: stamped no refund.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5000" y="1473200"/>
            <a:ext cx="3302000" cy="430571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pic>
        <p:nvPicPr>
          <p:cNvPr id="13" name="Picture 12" descr="frame-que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1536700"/>
            <a:ext cx="3175000" cy="417871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 rot="2100000">
            <a:off x="7112000" y="14224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FF9ECF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5000" y="5918610"/>
            <a:ext cx="3302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Review queue.</a:t>
            </a:r>
            <a:r>
              <a:rPr sz="2700" b="0">
                <a:solidFill>
                  <a:srgbClr val="0A0A0A"/>
                </a:solidFill>
                <a:latin typeface="Patrick Hand"/>
              </a:rPr>
              <a:t> Policy-flagged cases wait for a person.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0" y="1473200"/>
            <a:ext cx="3302000" cy="430571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pic>
        <p:nvPicPr>
          <p:cNvPr id="17" name="Picture 16" descr="frame-insigh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500" y="1536700"/>
            <a:ext cx="3175000" cy="417871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 rot="2100000">
            <a:off x="11049000" y="14224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FFC078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5918610"/>
            <a:ext cx="3302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Insights.</a:t>
            </a:r>
            <a:r>
              <a:rPr sz="2700" b="0">
                <a:solidFill>
                  <a:srgbClr val="0A0A0A"/>
                </a:solidFill>
                <a:latin typeface="Patrick Hand"/>
              </a:rPr>
              <a:t> The 12 held-out cases by disposition.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08000" y="228600"/>
            <a:ext cx="406400" cy="40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228600"/>
            <a:ext cx="146050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spc="-136">
                <a:solidFill>
                  <a:srgbClr val="0A0A0A"/>
                </a:solidFill>
                <a:latin typeface="Archivo Black"/>
              </a:rPr>
              <a:t>NEXUS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0" y="317500"/>
            <a:ext cx="1795780" cy="355600"/>
          </a:xfrm>
          <a:prstGeom prst="roundRect">
            <a:avLst>
              <a:gd name="adj" fmla="val 14285"/>
            </a:avLst>
          </a:prstGeom>
          <a:solidFill>
            <a:srgbClr val="FFF27A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spc="210">
                <a:solidFill>
                  <a:srgbClr val="0A0A0A"/>
                </a:solidFill>
                <a:latin typeface="JetBrains Mono"/>
              </a:rPr>
              <a:t>AMD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6300" y="266700"/>
            <a:ext cx="647700" cy="3556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787400"/>
            <a:ext cx="11176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300" b="0" spc="-107">
                <a:solidFill>
                  <a:srgbClr val="0A0A0A"/>
                </a:solidFill>
                <a:latin typeface="Archivo Black"/>
              </a:rPr>
              <a:t>Gemma-4-31B-IT on AMD GPUs </a:t>
            </a:r>
            <a:r>
              <a:rPr sz="4300" b="0" spc="-107">
                <a:solidFill>
                  <a:srgbClr val="0A0A0A"/>
                </a:solidFill>
                <a:highlight>
                  <a:srgbClr val="C8FF00"/>
                </a:highlight>
                <a:latin typeface="Archivo Black"/>
              </a:rPr>
              <a:t>reads the complaint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1358900"/>
            <a:ext cx="2092960" cy="355600"/>
          </a:xfrm>
          <a:prstGeom prst="roundRect">
            <a:avLst>
              <a:gd name="adj" fmla="val 17857"/>
            </a:avLst>
          </a:prstGeom>
          <a:solidFill>
            <a:srgbClr val="E2F3FF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AMD Token Factory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5260" y="1358900"/>
            <a:ext cx="2413000" cy="355600"/>
          </a:xfrm>
          <a:prstGeom prst="roundRect">
            <a:avLst>
              <a:gd name="adj" fmla="val 17857"/>
            </a:avLst>
          </a:prstGeom>
          <a:solidFill>
            <a:srgbClr val="E2F3FF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developer.amd.com.cn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2560" y="1358900"/>
            <a:ext cx="3266440" cy="355600"/>
          </a:xfrm>
          <a:prstGeom prst="roundRect">
            <a:avLst>
              <a:gd name="adj" fmla="val 17857"/>
            </a:avLst>
          </a:prstGeom>
          <a:solidFill>
            <a:srgbClr val="E2F3FF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prompt nexus-investigator-v1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2844800"/>
            <a:ext cx="1409700" cy="990600"/>
          </a:xfrm>
          <a:prstGeom prst="roundRect">
            <a:avLst>
              <a:gd name="adj" fmla="val 10256"/>
            </a:avLst>
          </a:prstGeom>
          <a:solidFill>
            <a:srgbClr val="F8F6F1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Snapshot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hashed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5200" y="2781300"/>
            <a:ext cx="1663700" cy="1117600"/>
          </a:xfrm>
          <a:prstGeom prst="roundRect">
            <a:avLst>
              <a:gd name="adj" fmla="val 9090"/>
            </a:avLst>
          </a:prstGeom>
          <a:solidFill>
            <a:srgbClr val="CDB8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Policy rules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code decides eligibility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2057400"/>
            <a:ext cx="2095500" cy="1016000"/>
          </a:xfrm>
          <a:prstGeom prst="roundRect">
            <a:avLst>
              <a:gd name="adj" fmla="val 10000"/>
            </a:avLst>
          </a:prstGeom>
          <a:solidFill>
            <a:srgbClr val="FF9EC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Mandatory flag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e.g. open chargeback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3400" y="2057400"/>
            <a:ext cx="2095500" cy="1016000"/>
          </a:xfrm>
          <a:prstGeom prst="roundRect">
            <a:avLst>
              <a:gd name="adj" fmla="val 10000"/>
            </a:avLst>
          </a:prstGeom>
          <a:solidFill>
            <a:srgbClr val="9FD8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0 AMD calls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SKIPPED_POLICY, 4 of 12 held-out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20574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8F6F1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Human review queue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a person decides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1500" y="3581400"/>
            <a:ext cx="2095500" cy="1016000"/>
          </a:xfrm>
          <a:prstGeom prst="roundRect">
            <a:avLst>
              <a:gd name="adj" fmla="val 10000"/>
            </a:avLst>
          </a:prstGeom>
          <a:solidFill>
            <a:srgbClr val="C8FF00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AMD interprets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Gemma-4-31B-IT reads the complaint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3400" y="3581400"/>
            <a:ext cx="2095500" cy="10160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Validation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cited IDs exist, amount =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7200" y="35814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FC078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63500" rIns="76200" bIns="5080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0A0A0A"/>
                </a:solidFill>
                <a:latin typeface="Archivo"/>
              </a:rPr>
              <a:t>Code renders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reply, clarification or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43100" y="3340100"/>
            <a:ext cx="254000" cy="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937000" y="2578100"/>
            <a:ext cx="406400" cy="63500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7000" y="3479800"/>
            <a:ext cx="406400" cy="59690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02400" y="2565400"/>
            <a:ext cx="342900" cy="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4300" y="2565400"/>
            <a:ext cx="304800" cy="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02400" y="4089400"/>
            <a:ext cx="342900" cy="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4300" y="4089400"/>
            <a:ext cx="304800" cy="0"/>
          </a:xfrm>
          <a:prstGeom prst="line">
            <a:avLst/>
          </a:prstGeom>
          <a:ln w="47625" cap="rnd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70200" y="2362200"/>
            <a:ext cx="1206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flag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0" y="4013200"/>
            <a:ext cx="1206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no flag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000" y="4813300"/>
            <a:ext cx="5588000" cy="1727200"/>
          </a:xfrm>
          <a:prstGeom prst="roundRect">
            <a:avLst>
              <a:gd name="adj" fmla="val 5882"/>
            </a:avLst>
          </a:prstGeom>
          <a:solidFill>
            <a:srgbClr val="E2F3FF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14300" rIns="127000" bIns="101600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Real request, held-out case s02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id ef5339775864420594e723411612a8f5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2026-10-16T11:34:07.617Z, 24,992 ms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2,797 tokens in / 236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6045200"/>
            <a:ext cx="3906520" cy="355600"/>
          </a:xfrm>
          <a:prstGeom prst="roundRect">
            <a:avLst>
              <a:gd name="adj" fmla="val 17857"/>
            </a:avLst>
          </a:prstGeom>
          <a:solidFill>
            <a:srgbClr val="F1FFC0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run eval-heldout-live-202610161132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0000" y="4813300"/>
            <a:ext cx="5334000" cy="1727200"/>
          </a:xfrm>
          <a:prstGeom prst="roundRect">
            <a:avLst>
              <a:gd name="adj" fmla="val 5882"/>
            </a:avLst>
          </a:prstGeom>
          <a:solidFill>
            <a:srgbClr val="FFEED9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14300" rIns="177800" bIns="101600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Honest limit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>
                <a:solidFill>
                  <a:srgbClr val="0A0A0A"/>
                </a:solidFill>
                <a:latin typeface="Patrick Hand"/>
              </a:rPr>
              <a:t>Gemma-4-31B-IT rejects max_tokens on this endpoint. Output is bounded by a 60 s timeout, schema validation and a budget 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08000" y="228600"/>
            <a:ext cx="406400" cy="40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228600"/>
            <a:ext cx="146050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spc="-136">
                <a:solidFill>
                  <a:srgbClr val="0A0A0A"/>
                </a:solidFill>
                <a:latin typeface="Archivo Black"/>
              </a:rPr>
              <a:t>NEXUS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0" y="317500"/>
            <a:ext cx="2427605" cy="355600"/>
          </a:xfrm>
          <a:prstGeom prst="roundRect">
            <a:avLst>
              <a:gd name="adj" fmla="val 14285"/>
            </a:avLst>
          </a:prstGeom>
          <a:solidFill>
            <a:srgbClr val="FFF27A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spc="210">
                <a:solidFill>
                  <a:srgbClr val="0A0A0A"/>
                </a:solidFill>
                <a:latin typeface="JetBrains Mono"/>
              </a:rPr>
              <a:t>COMPARISON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6300" y="266700"/>
            <a:ext cx="647700" cy="3556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787400"/>
            <a:ext cx="11176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700" b="0" spc="-117">
                <a:solidFill>
                  <a:srgbClr val="0A0A0A"/>
                </a:solidFill>
                <a:latin typeface="Archivo Black"/>
              </a:rPr>
              <a:t>NEXUS </a:t>
            </a:r>
            <a:r>
              <a:rPr sz="4700" b="0" spc="-117">
                <a:solidFill>
                  <a:srgbClr val="0A0A0A"/>
                </a:solidFill>
                <a:highlight>
                  <a:srgbClr val="C8FF00"/>
                </a:highlight>
                <a:latin typeface="Archivo Black"/>
              </a:rPr>
              <a:t>12/12</a:t>
            </a:r>
            <a:r>
              <a:rPr sz="4700" b="0" spc="-117">
                <a:solidFill>
                  <a:srgbClr val="0A0A0A"/>
                </a:solidFill>
                <a:latin typeface="Archivo Black"/>
              </a:rPr>
              <a:t> vs rules-only 10/12 on disposition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09700"/>
            <a:ext cx="6985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A0A0A"/>
                </a:solidFill>
                <a:latin typeface="Patrick Hand"/>
              </a:rPr>
              <a:t>12 synthetic held-out cases: descriptive, not a general accuracy claim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1879600"/>
          <a:ext cx="70485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48000"/>
                <a:gridCol w="2000250"/>
                <a:gridCol w="2000250"/>
              </a:tblGrid>
              <a:tr h="7366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>
                          <a:solidFill>
                            <a:srgbClr val="0A0A0A"/>
                          </a:solidFill>
                          <a:latin typeface="Archivo Black"/>
                        </a:rPr>
                        <a:t>Metric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>
                          <a:solidFill>
                            <a:srgbClr val="0A0A0A"/>
                          </a:solidFill>
                          <a:latin typeface="Archivo Black"/>
                        </a:rPr>
                        <a:t>A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Patrick Hand"/>
                        </a:rPr>
                        <a:t>rules only, no inference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>
                          <a:solidFill>
                            <a:srgbClr val="0A0A0A"/>
                          </a:solidFill>
                          <a:latin typeface="Archivo Black"/>
                        </a:rPr>
                        <a:t>B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Patrick Hand"/>
                        </a:rPr>
                        <a:t>NEXUS + AMD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>
                          <a:solidFill>
                            <a:srgbClr val="0A0A0A"/>
                          </a:solidFill>
                          <a:latin typeface="Archivo"/>
                        </a:rPr>
                        <a:t>Disposition correct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10/12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FE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12/12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8EF0C4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>
                          <a:solidFill>
                            <a:srgbClr val="0A0A0A"/>
                          </a:solidFill>
                          <a:latin typeface="Archivo"/>
                        </a:rPr>
                        <a:t>Reply rubric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19/21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FE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21/21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8EF0C4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>
                          <a:solidFill>
                            <a:srgbClr val="0A0A0A"/>
                          </a:solidFill>
                          <a:latin typeface="Archivo"/>
                        </a:rPr>
                        <a:t>Critical failures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0/12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0/12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>
                          <a:solidFill>
                            <a:srgbClr val="0A0A0A"/>
                          </a:solidFill>
                          <a:latin typeface="Archivo"/>
                        </a:rPr>
                        <a:t>Mandatory-review recall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4/4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4/4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>
                          <a:solidFill>
                            <a:srgbClr val="0A0A0A"/>
                          </a:solidFill>
                          <a:latin typeface="Archivo"/>
                        </a:rPr>
                        <a:t>Model calls on the 4 policy-skipped cases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400" b="1">
                          <a:solidFill>
                            <a:srgbClr val="0A0A0A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114300" marR="114300" marT="50800" marB="50800">
                    <a:lnL w="33337" cap="flat" cmpd="sng" algn="ctr">
                      <a:solidFill>
                        <a:srgbClr val="0A0A0A"/>
                      </a:solidFill>
                      <a:prstDash val="solid"/>
                    </a:lnL>
                    <a:lnR w="33337" cap="flat" cmpd="sng" algn="ctr">
                      <a:solidFill>
                        <a:srgbClr val="0A0A0A"/>
                      </a:solidFill>
                      <a:prstDash val="solid"/>
                    </a:lnR>
                    <a:lnT w="33337" cap="flat" cmpd="sng" algn="ctr">
                      <a:solidFill>
                        <a:srgbClr val="0A0A0A"/>
                      </a:solidFill>
                      <a:prstDash val="solid"/>
                    </a:lnT>
                    <a:lnB w="33337" cap="flat" cmpd="sng" algn="ctr">
                      <a:solidFill>
                        <a:srgbClr val="0A0A0A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8000" y="6032500"/>
            <a:ext cx="215900" cy="215900"/>
          </a:xfrm>
          <a:prstGeom prst="roundRect">
            <a:avLst>
              <a:gd name="adj" fmla="val 17647"/>
            </a:avLst>
          </a:prstGeom>
          <a:solidFill>
            <a:srgbClr val="8EF0C4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5994400"/>
            <a:ext cx="10795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B better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9300" y="6032500"/>
            <a:ext cx="215900" cy="215900"/>
          </a:xfrm>
          <a:prstGeom prst="roundRect">
            <a:avLst>
              <a:gd name="adj" fmla="val 17647"/>
            </a:avLst>
          </a:prstGeom>
          <a:solidFill>
            <a:srgbClr val="E9E4DC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1400" y="5994400"/>
            <a:ext cx="6350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tie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6100" y="6032500"/>
            <a:ext cx="215900" cy="215900"/>
          </a:xfrm>
          <a:prstGeom prst="roundRect">
            <a:avLst>
              <a:gd name="adj" fmla="val 17647"/>
            </a:avLst>
          </a:prstGeom>
          <a:solidFill>
            <a:srgbClr val="FFE2F0"/>
          </a:solidFill>
          <a:ln w="285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8200" y="5994400"/>
            <a:ext cx="12065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A missed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7500" y="1879600"/>
            <a:ext cx="3746500" cy="1701800"/>
          </a:xfrm>
          <a:prstGeom prst="roundRect">
            <a:avLst>
              <a:gd name="adj" fmla="val 5970"/>
            </a:avLst>
          </a:prstGeom>
          <a:solidFill>
            <a:srgbClr val="FFE2F0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tIns="127000" rIns="152400" bIns="101600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A missed an injection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Patrick Hand"/>
              </a:rPr>
              <a:t>A double-charge complaint said "refund $500". A asked for clarification. B kept the policy amount, GBP 64.50.</a:t>
            </a:r>
          </a:p>
        </p:txBody>
      </p:sp>
      <p:sp>
        <p:nvSpPr>
          <p:cNvPr id="16" name="Rounded Rectangle 15"/>
          <p:cNvSpPr/>
          <p:nvPr/>
        </p:nvSpPr>
        <p:spPr>
          <a:xfrm rot="2100000">
            <a:off x="11049000" y="18288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FF9ECF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37500" y="3835400"/>
            <a:ext cx="3746500" cy="1409700"/>
          </a:xfrm>
          <a:prstGeom prst="roundRect">
            <a:avLst>
              <a:gd name="adj" fmla="val 7207"/>
            </a:avLst>
          </a:prstGeom>
          <a:solidFill>
            <a:srgbClr val="FFEED9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tIns="127000" rIns="152400" bIns="101600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0A0A"/>
                </a:solidFill>
                <a:latin typeface="Archivo"/>
              </a:rPr>
              <a:t>A missed an off-topic case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Patrick Hand"/>
              </a:rPr>
              <a:t>A login complaint got "no refund" from A. B sent it to a person.</a:t>
            </a:r>
          </a:p>
        </p:txBody>
      </p:sp>
      <p:sp>
        <p:nvSpPr>
          <p:cNvPr id="18" name="Rounded Rectangle 17"/>
          <p:cNvSpPr/>
          <p:nvPr/>
        </p:nvSpPr>
        <p:spPr>
          <a:xfrm rot="2100000">
            <a:off x="11049000" y="37846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FFC078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7480" y="5905500"/>
            <a:ext cx="3906520" cy="355600"/>
          </a:xfrm>
          <a:prstGeom prst="roundRect">
            <a:avLst>
              <a:gd name="adj" fmla="val 17857"/>
            </a:avLst>
          </a:prstGeom>
          <a:solidFill>
            <a:srgbClr val="F1FFC0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0A0A"/>
                </a:solidFill>
                <a:latin typeface="JetBrains Mono"/>
              </a:rPr>
              <a:t>run eval-heldout-live-202610161132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08000" y="228600"/>
            <a:ext cx="406400" cy="40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228600"/>
            <a:ext cx="146050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spc="-136">
                <a:solidFill>
                  <a:srgbClr val="0A0A0A"/>
                </a:solidFill>
                <a:latin typeface="Archivo Black"/>
              </a:rPr>
              <a:t>NEXUS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0" y="317500"/>
            <a:ext cx="3564890" cy="355600"/>
          </a:xfrm>
          <a:prstGeom prst="roundRect">
            <a:avLst>
              <a:gd name="adj" fmla="val 14285"/>
            </a:avLst>
          </a:prstGeom>
          <a:solidFill>
            <a:srgbClr val="FFF27A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spc="210">
                <a:solidFill>
                  <a:srgbClr val="0A0A0A"/>
                </a:solidFill>
                <a:latin typeface="JetBrains Mono"/>
              </a:rPr>
              <a:t>LIMITATIONS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6300" y="266700"/>
            <a:ext cx="647700" cy="3556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33337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A0A0A"/>
                </a:solidFill>
                <a:latin typeface="Patrick Hand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787400"/>
            <a:ext cx="889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0" spc="-135">
                <a:solidFill>
                  <a:srgbClr val="0A0A0A"/>
                </a:solidFill>
                <a:latin typeface="Archivo Black"/>
              </a:rPr>
              <a:t>What this does not show </a:t>
            </a:r>
            <a:r>
              <a:rPr sz="5400" b="0" spc="-135">
                <a:solidFill>
                  <a:srgbClr val="0A0A0A"/>
                </a:solidFill>
                <a:highlight>
                  <a:srgbClr val="FF9ECF"/>
                </a:highlight>
                <a:latin typeface="Archivo Black"/>
              </a:rPr>
              <a:t>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1498600"/>
            <a:ext cx="5397500" cy="3746500"/>
          </a:xfrm>
          <a:prstGeom prst="roundRect">
            <a:avLst>
              <a:gd name="adj" fmla="val 2711"/>
            </a:avLst>
          </a:prstGeom>
          <a:solidFill>
            <a:srgbClr val="FFE2F0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tIns="152400" rIns="190500" bIns="127000">
            <a:no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4200" b="0" spc="-120">
                <a:solidFill>
                  <a:srgbClr val="0A0A0A"/>
                </a:solidFill>
                <a:latin typeface="Archivo Black"/>
              </a:rPr>
              <a:t>Limits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Synthetic data, fictional policy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12 held-out cases, descriptive only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No payment or email is ever executed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Shared Token Factory: mean 29.4 s per call (run eval-heldout-live-202610161132)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Operator ID is an audit label, not a login</a:t>
            </a:r>
          </a:p>
        </p:txBody>
      </p:sp>
      <p:sp>
        <p:nvSpPr>
          <p:cNvPr id="8" name="Rounded Rectangle 7"/>
          <p:cNvSpPr/>
          <p:nvPr/>
        </p:nvSpPr>
        <p:spPr>
          <a:xfrm rot="19500000">
            <a:off x="190500" y="14478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FF9ECF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6500" y="1498600"/>
            <a:ext cx="5397500" cy="3746500"/>
          </a:xfrm>
          <a:prstGeom prst="roundRect">
            <a:avLst>
              <a:gd name="adj" fmla="val 2711"/>
            </a:avLst>
          </a:prstGeom>
          <a:solidFill>
            <a:srgbClr val="DCF9EC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5900" tIns="152400" rIns="190500" bIns="127000">
            <a:no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4200" b="0" spc="-120">
                <a:solidFill>
                  <a:srgbClr val="0A0A0A"/>
                </a:solidFill>
                <a:latin typeface="Archivo Black"/>
              </a:rPr>
              <a:t>Next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2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Real policy import</a:t>
            </a:r>
          </a:p>
          <a:p>
            <a:pPr marL="355600" indent="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400" b="0">
                <a:solidFill>
                  <a:srgbClr val="0A0A0A"/>
                </a:solidFill>
                <a:latin typeface="Patrick Hand"/>
              </a:rPr>
              <a:t>replace the fictional policy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2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More cases</a:t>
            </a:r>
          </a:p>
          <a:p>
            <a:pPr marL="355600" indent="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400" b="0">
                <a:solidFill>
                  <a:srgbClr val="0A0A0A"/>
                </a:solidFill>
                <a:latin typeface="Patrick Hand"/>
              </a:rPr>
              <a:t>beyond the 12 held-out cases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2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Timing study with agents</a:t>
            </a:r>
          </a:p>
          <a:p>
            <a:pPr marL="355600" indent="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400" b="0">
                <a:solidFill>
                  <a:srgbClr val="0A0A0A"/>
                </a:solidFill>
                <a:latin typeface="Patrick Hand"/>
              </a:rPr>
              <a:t>agent time per complaint is not measured yet</a:t>
            </a:r>
          </a:p>
          <a:p>
            <a:pPr marL="355600" indent="-355600">
              <a:lnSpc>
                <a:spcPct val="85000"/>
              </a:lnSpc>
              <a:spcBef>
                <a:spcPts val="0"/>
              </a:spcBef>
              <a:spcAft>
                <a:spcPts val="200"/>
              </a:spcAft>
              <a:buClr>
                <a:srgbClr val="0A0A0A"/>
              </a:buClr>
              <a:buSzPct val="70000"/>
              <a:buFont typeface="Arial"/>
              <a:buChar char="■"/>
            </a:pPr>
            <a:r>
              <a:rPr sz="3300" b="0">
                <a:solidFill>
                  <a:srgbClr val="0A0A0A"/>
                </a:solidFill>
                <a:latin typeface="Patrick Hand"/>
              </a:rPr>
              <a:t>Evolus and partner integrations</a:t>
            </a:r>
          </a:p>
          <a:p>
            <a:pPr marL="355600" indent="0">
              <a:lnSpc>
                <a:spcPct val="8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400" b="0">
                <a:solidFill>
                  <a:srgbClr val="0A0A0A"/>
                </a:solidFill>
                <a:latin typeface="Patrick Hand"/>
              </a:rPr>
              <a:t>not claimed in this submission</a:t>
            </a:r>
          </a:p>
        </p:txBody>
      </p:sp>
      <p:sp>
        <p:nvSpPr>
          <p:cNvPr id="10" name="Rounded Rectangle 9"/>
          <p:cNvSpPr/>
          <p:nvPr/>
        </p:nvSpPr>
        <p:spPr>
          <a:xfrm rot="2100000">
            <a:off x="11366500" y="1447800"/>
            <a:ext cx="952500" cy="279400"/>
          </a:xfrm>
          <a:prstGeom prst="roundRect">
            <a:avLst>
              <a:gd name="adj" fmla="val 4545"/>
            </a:avLst>
          </a:prstGeom>
          <a:solidFill>
            <a:srgbClr val="8EF0C4"/>
          </a:solidFill>
          <a:ln w="19050">
            <a:solidFill>
              <a:srgbClr val="B8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tIns="114300" rIns="152400" bIns="127000">
            <a:no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8000" y="5511800"/>
            <a:ext cx="11176000" cy="990600"/>
          </a:xfrm>
          <a:prstGeom prst="roundRect">
            <a:avLst>
              <a:gd name="adj" fmla="val 10256"/>
            </a:avLst>
          </a:prstGeom>
          <a:solidFill>
            <a:srgbClr val="C8FF00"/>
          </a:solidFill>
          <a:ln w="38100">
            <a:solidFill>
              <a:srgbClr val="0A0A0A"/>
            </a:solidFill>
          </a:ln>
          <a:effectLst>
            <a:outerShdw blurRad="0" dist="62861" dir="2700000" algn="tl" rotWithShape="1">
              <a:srgbClr val="0A0A0A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5613400"/>
            <a:ext cx="12065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A0A0A"/>
                </a:solidFill>
                <a:latin typeface="Patrick Hand"/>
              </a:rPr>
              <a:t>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100" y="56134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A0A0A"/>
                </a:solidFill>
                <a:latin typeface="JetBrains Mono"/>
              </a:rPr>
              <a:t>https://nexus-dispute-triage.vercel.app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007100"/>
            <a:ext cx="12065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0A0A0A"/>
                </a:solidFill>
                <a:latin typeface="Patrick Hand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60071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A0A0A"/>
                </a:solidFill>
                <a:latin typeface="JetBrains Mono"/>
              </a:rPr>
              <a:t>github.com/vj-io/nexus-dispute-triage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5638800"/>
            <a:ext cx="0" cy="736600"/>
          </a:xfrm>
          <a:prstGeom prst="line">
            <a:avLst/>
          </a:prstGeom>
          <a:ln w="33337" cap="rnd">
            <a:solidFill>
              <a:srgbClr val="0A0A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90000" y="5613400"/>
            <a:ext cx="2667000" cy="863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3000" b="0" spc="-90">
                <a:solidFill>
                  <a:srgbClr val="0A0A0A"/>
                </a:solidFill>
                <a:latin typeface="Archivo Black"/>
              </a:rPr>
              <a:t>Team Takla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Vaibhav Jangid, Garv Bansal,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0A0A"/>
                </a:solidFill>
                <a:latin typeface="Patrick Hand"/>
              </a:rPr>
              <a:t>Abishek Guru, Pachipulusu Poojit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